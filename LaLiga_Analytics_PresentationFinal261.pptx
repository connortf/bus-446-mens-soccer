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1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8322-ED59-7AC5-720C-CA89FFE4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EBF54-F5C4-45AF-52CF-7FEFD9B29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B8691-6DB9-66BF-FE64-496606932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49A65-3CD0-D21A-D83D-2E5FEF88D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76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548640"/>
            <a:ext cx="4114800" cy="4114800"/>
          </a:xfrm>
          <a:prstGeom prst="ellipse">
            <a:avLst/>
          </a:prstGeom>
          <a:solidFill>
            <a:srgbClr val="1A6B3A">
              <a:alpha val="12000"/>
            </a:srgbClr>
          </a:solidFill>
          <a:ln w="19050">
            <a:solidFill>
              <a:srgbClr val="2D9E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0" y="1463040"/>
            <a:ext cx="2286000" cy="22860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2D9E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</a:t>
            </a:r>
            <a:endParaRPr lang="en-US" sz="480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80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Goal Scoring Through Data</a:t>
            </a:r>
            <a:endParaRPr lang="en-US" sz="1700"/>
          </a:p>
        </p:txBody>
      </p:sp>
      <p:sp>
        <p:nvSpPr>
          <p:cNvPr id="10" name="Shape 8"/>
          <p:cNvSpPr/>
          <p:nvPr/>
        </p:nvSpPr>
        <p:spPr>
          <a:xfrm>
            <a:off x="320040" y="3566160"/>
            <a:ext cx="1965960" cy="1143000"/>
          </a:xfrm>
          <a:prstGeom prst="rect">
            <a:avLst/>
          </a:prstGeom>
          <a:solidFill>
            <a:srgbClr val="1E2D2F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639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</a:t>
            </a:r>
            <a:endParaRPr lang="en-US" sz="2600"/>
          </a:p>
        </p:txBody>
      </p:sp>
      <p:sp>
        <p:nvSpPr>
          <p:cNvPr id="12" name="Text 10"/>
          <p:cNvSpPr/>
          <p:nvPr/>
        </p:nvSpPr>
        <p:spPr>
          <a:xfrm>
            <a:off x="320040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analyzed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14600" y="3566160"/>
            <a:ext cx="1965960" cy="1143000"/>
          </a:xfrm>
          <a:prstGeom prst="rect">
            <a:avLst/>
          </a:prstGeom>
          <a:solidFill>
            <a:srgbClr val="1E2D2F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3639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2514600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tracked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709160" y="3566160"/>
            <a:ext cx="1965960" cy="1143000"/>
          </a:xfrm>
          <a:prstGeom prst="rect">
            <a:avLst/>
          </a:prstGeom>
          <a:solidFill>
            <a:srgbClr val="1E2D2F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3639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/>
          </a:p>
        </p:txBody>
      </p:sp>
      <p:sp>
        <p:nvSpPr>
          <p:cNvPr id="18" name="Text 16"/>
          <p:cNvSpPr/>
          <p:nvPr/>
        </p:nvSpPr>
        <p:spPr>
          <a:xfrm>
            <a:off x="4709160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903720" y="3566160"/>
            <a:ext cx="1965960" cy="1143000"/>
          </a:xfrm>
          <a:prstGeom prst="rect">
            <a:avLst/>
          </a:prstGeom>
          <a:solidFill>
            <a:srgbClr val="1E2D2F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3639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6903720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 (Q1)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Lenoir-Rhyne University  | Men’s Soccer |  Business Analytics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0292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60120" y="13807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 player stats — 556 players, 62 variables, one season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50292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960120" y="18013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960120" y="202082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analytical questions guiding our investigation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50292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423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960120" y="24414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Goal Scoring Predictors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960120" y="266090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metrics most strongly influence goals? (Completed)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50292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063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960120" y="3081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Playing Time vs Efficiency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960120" y="330098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or quality? Per-90 analysis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50292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703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960120" y="3721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Team Playing Styles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960120" y="39410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play vs individual stars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0040" y="4343400"/>
            <a:ext cx="50292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343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960120" y="4361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960120" y="45811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for club decision-making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 Player Performance Statistics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La Liga season of competitive match data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player-level (one row = one player)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 total observations across all positions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variables: offense, defense, passing, discipline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Official La Liga match statistics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65760" y="38862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season only. No salary, transfer value, or tactical data. Players under 500 minutes filtered out to reduce small-sample noise (Q1).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029200" y="1143000"/>
            <a:ext cx="37490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metrics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16636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games played, starts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749040" cy="7772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63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output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16636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assists, shots on target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029200" y="3063240"/>
            <a:ext cx="3749040" cy="77724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indicators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166360" y="3474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Dribbles, pass types, crosses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5029200" y="4023360"/>
            <a:ext cx="3749040" cy="777240"/>
          </a:xfrm>
          <a:prstGeom prst="rect">
            <a:avLst/>
          </a:prstGeom>
          <a:solidFill>
            <a:srgbClr val="8BA5A0"/>
          </a:solidFill>
          <a:ln w="12700">
            <a:solidFill>
              <a:srgbClr val="8BA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Disciplinary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5166360" y="4434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Yellow/red cards, fouls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 Research Questions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investigates a different dimension of La Liga performance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412480" cy="1051560"/>
          </a:xfrm>
          <a:prstGeom prst="rect">
            <a:avLst/>
          </a:prstGeom>
          <a:solidFill>
            <a:srgbClr val="1E2D2F"/>
          </a:solidFill>
          <a:ln w="1016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640080" cy="10515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1051560" y="1307592"/>
            <a:ext cx="1005840" cy="25603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307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2194560" y="129844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player metrics most strongly influence goal scoring?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analysis: shots on target, dribbles, assists tested as predictors of goals. R²=0.818.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8412480" cy="1051560"/>
          </a:xfrm>
          <a:prstGeom prst="rect">
            <a:avLst/>
          </a:prstGeom>
          <a:solidFill>
            <a:srgbClr val="1E2D2F"/>
          </a:solidFill>
          <a:ln w="1016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640080" cy="10515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4688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1051560" y="2542032"/>
            <a:ext cx="1005840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25420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2194560" y="253288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more playing time lead to higher output, or are some players more efficient?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Per-90 minute analysis separating volume players from genuinely elite performers.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8412480" cy="1051560"/>
          </a:xfrm>
          <a:prstGeom prst="rect">
            <a:avLst/>
          </a:prstGeom>
          <a:solidFill>
            <a:srgbClr val="1E2D2F"/>
          </a:solidFill>
          <a:ln w="1016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640080" cy="10515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7033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1051560" y="3776472"/>
            <a:ext cx="1005840" cy="256032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37764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2194560" y="37673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team playing styles differ — collective vs individual stars?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1097280" y="420624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aggregation comparing passing vs dribbling sides, and goal concentration ratios.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Step 1: Data Preparation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analysis, two cleaning steps were applied to ensure reliable results: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841248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2296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261872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Minutes Played column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261872" y="210312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CSV used a non-standard decimal separator (European format). Commas were replaced with periods in Excel using Find &amp; Replace to convert the column into a usable numeric format.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20040" y="3154680"/>
            <a:ext cx="841248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82296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1546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261872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low-minute players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261872" y="365760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with fewer than 500 minutes were excluded. A player scoring 1 goal in 50 minutes is a statistical outlier. Filtering to 500+ minutes ensures findings reflect consistent, full-season performance rather than small-sample noise.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clean dataset of qualifying players ready for Tableau visualization and regression analysis.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Step 2: Tableau Visualizations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2809702"/>
          </a:xfrm>
          <a:prstGeom prst="rect">
            <a:avLst/>
          </a:prstGeom>
          <a:solidFill>
            <a:srgbClr val="EEF4F0"/>
          </a:solidFill>
          <a:ln w="1016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Shots on Target vs Goals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Tableau scatter plot here ]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82772" y="38313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player. Trend line + R² shown.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cluster top-right. Clear positive relationship.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60520" cy="2809702"/>
          </a:xfrm>
          <a:prstGeom prst="rect">
            <a:avLst/>
          </a:prstGeom>
          <a:solidFill>
            <a:srgbClr val="EEF4F0"/>
          </a:solidFill>
          <a:ln w="1016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605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155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Total Shots vs Goals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Tableau scatter plot here ]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726744" y="38352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layout, different X axis.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R² here vs shot quality chart — quality wins.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09489" y="4227342"/>
            <a:ext cx="8503920" cy="751566"/>
          </a:xfrm>
          <a:prstGeom prst="rect">
            <a:avLst/>
          </a:prstGeom>
          <a:solidFill>
            <a:srgbClr val="EEF4F0"/>
          </a:solidFill>
          <a:ln w="1016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4233672"/>
            <a:ext cx="2377440" cy="75156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245630"/>
            <a:ext cx="2286000" cy="554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2796657" y="4295463"/>
            <a:ext cx="5852160" cy="554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/>
              <a:t>La Liga clubs should not evaluate attackers on total shots alone. A player with 40 shots on target is more valuable than one with 100 total shots at low accuracy. Shot quality is the metric that matters."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5D169B0-FE60-8AF1-E5D5-E94C4911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165" y="1466645"/>
            <a:ext cx="2333694" cy="24403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FD4BF13-62C5-2CEA-A762-0415E18E8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968" y="1453896"/>
            <a:ext cx="2524867" cy="24439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Regression Results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regression: Goals ~ Shots on Target + Total Shots + Successful Dribbles + Assists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286000" cy="13716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0.818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81.8% of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 goal scoring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788919" y="1097280"/>
            <a:ext cx="6179127" cy="1371600"/>
          </a:xfrm>
          <a:prstGeom prst="rect">
            <a:avLst/>
          </a:prstGeom>
          <a:solidFill>
            <a:srgbClr val="1E2D2F"/>
          </a:solidFill>
          <a:ln w="1016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24221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 (+0.395)  |  Shots (−0.034)  |  Successful dribbles (−0.030)</a:t>
            </a:r>
            <a:endParaRPr lang="en-US" sz="9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34640"/>
          <a:ext cx="841248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Shots on Target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(E-39)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predictor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Shots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— negative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Dribbles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(E-08)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— negative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+0.061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 — excluded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9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31EBB7D-7973-6701-530C-13B24CA4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399170"/>
            <a:ext cx="6179127" cy="7678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Key Finding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412480" cy="13258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09728" cy="132588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"Shot quality beats shot quantity. Every additional shot on target predicts 0.395 more goals — while taking more total shots without accuracy slightly hurts performance."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2697480" cy="2286000"/>
          </a:xfrm>
          <a:prstGeom prst="rect">
            <a:avLst/>
          </a:prstGeom>
          <a:solidFill>
            <a:srgbClr val="FFFFFF"/>
          </a:solidFill>
          <a:ln w="762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606040"/>
            <a:ext cx="2697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6243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clubs signing attackers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29768" y="303580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shot accuracy over total attempts. A striker with 40 shots on target outperforms one with 80 shots at low accuracy.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2697480" cy="2286000"/>
          </a:xfrm>
          <a:prstGeom prst="rect">
            <a:avLst/>
          </a:prstGeom>
          <a:solidFill>
            <a:srgbClr val="FFFFFF"/>
          </a:solidFill>
          <a:ln w="762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2606040"/>
            <a:ext cx="2697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6243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Dribbling is not the answer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310128" y="303580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dribble frequency correlates with fewer goals — excessive ball retention reduces time in shooting positions.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080760" y="2606040"/>
            <a:ext cx="2697480" cy="2286000"/>
          </a:xfrm>
          <a:prstGeom prst="rect">
            <a:avLst/>
          </a:prstGeom>
          <a:solidFill>
            <a:srgbClr val="FFFFFF"/>
          </a:solidFill>
          <a:ln w="762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2606040"/>
            <a:ext cx="2697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26243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strength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190488" y="303580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R²=0.818 confirms these metrics genuinely capture goal-scoring ability, not random variation or luck.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Playing Time vs Efficiency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8147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39544" y="11539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more playing time lead to higher attacking output, or are some players more efficient than others?"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055512" y="1990108"/>
            <a:ext cx="4139548" cy="2352692"/>
          </a:xfrm>
          <a:prstGeom prst="rect">
            <a:avLst/>
          </a:prstGeom>
          <a:solidFill>
            <a:srgbClr val="EEF4F0"/>
          </a:solidFill>
          <a:ln w="10160">
            <a:solidFill>
              <a:srgbClr val="0B1F3A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82836" y="1609427"/>
            <a:ext cx="4192717" cy="339423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09853" y="1627716"/>
            <a:ext cx="397764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                      Minutes VS Goals per 90</a:t>
            </a:r>
          </a:p>
        </p:txBody>
      </p:sp>
      <p:sp>
        <p:nvSpPr>
          <p:cNvPr id="11" name="Text 9"/>
          <p:cNvSpPr/>
          <p:nvPr/>
        </p:nvSpPr>
        <p:spPr>
          <a:xfrm>
            <a:off x="4574707" y="526577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player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analysis identifies super-subs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output, low minutes — top-left)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88620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i="1">
              <a:solidFill>
                <a:srgbClr val="8BA5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76223" y="5031675"/>
            <a:ext cx="3840480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950">
              <a:solidFill>
                <a:srgbClr val="1E2D2F"/>
              </a:solidFill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6138" y="4399228"/>
            <a:ext cx="8210767" cy="636907"/>
          </a:xfrm>
          <a:prstGeom prst="rect">
            <a:avLst/>
          </a:prstGeom>
          <a:solidFill>
            <a:srgbClr val="EEF4F0"/>
          </a:solidFill>
          <a:ln w="10160">
            <a:solidFill>
              <a:srgbClr val="1A6B3A"/>
            </a:solidFill>
            <a:prstDash val="dash"/>
          </a:ln>
        </p:spPr>
        <p:txBody>
          <a:bodyPr lIns="91440" tIns="45720" rIns="91440" bIns="45720" anchor="t"/>
          <a:lstStyle/>
          <a:p>
            <a:r>
              <a:rPr lang="en-US" sz="1200">
                <a:ea typeface="+mn-lt"/>
                <a:cs typeface="+mn-lt"/>
              </a:rPr>
              <a:t>Based on the La Liga player data, </a:t>
            </a:r>
            <a:r>
              <a:rPr lang="en-US" sz="1200" b="1">
                <a:ea typeface="+mn-lt"/>
                <a:cs typeface="+mn-lt"/>
              </a:rPr>
              <a:t>more playing time does not necessarily lead to higher attacking output</a:t>
            </a:r>
            <a:r>
              <a:rPr lang="en-US" sz="1200">
                <a:ea typeface="+mn-lt"/>
                <a:cs typeface="+mn-lt"/>
              </a:rPr>
              <a:t>. While players with more minutes generally accumulate more total goals and assists, this relationship is largely driven by opportunity rather than efficiency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i="1">
              <a:solidFill>
                <a:srgbClr val="8BA5A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Picture 18" descr="A graph with blue dots and a line&#10;&#10;AI-generated content may be incorrect.">
            <a:extLst>
              <a:ext uri="{FF2B5EF4-FFF2-40B4-BE49-F238E27FC236}">
                <a16:creationId xmlns:a16="http://schemas.microsoft.com/office/drawing/2014/main" id="{A0FE8432-D957-1206-3040-7B80994C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617" y="1947930"/>
            <a:ext cx="4173493" cy="23986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FEA4-3A97-9546-88D0-4F4FBBE6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86FB8C-A428-9349-B25B-DE45697BE75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374EC4-FC49-2AF4-2351-CC64AF43B298}"/>
              </a:ext>
            </a:extLst>
          </p:cNvPr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Q2 </a:t>
            </a:r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-  Does more playing time lead to higher attacking output, or are some players more efficient than others?</a:t>
            </a:r>
            <a:endParaRPr lang="en-US" sz="24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6E8A58-8F00-5ED2-50B9-61C3241CA4A3}"/>
              </a:ext>
            </a:extLst>
          </p:cNvPr>
          <p:cNvSpPr/>
          <p:nvPr/>
        </p:nvSpPr>
        <p:spPr>
          <a:xfrm>
            <a:off x="88542" y="491007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E66A0F-1228-EF27-969A-FFAEDA4F788B}"/>
              </a:ext>
            </a:extLst>
          </p:cNvPr>
          <p:cNvSpPr/>
          <p:nvPr/>
        </p:nvSpPr>
        <p:spPr>
          <a:xfrm>
            <a:off x="2557744" y="1596336"/>
            <a:ext cx="4023360" cy="2407384"/>
          </a:xfrm>
          <a:prstGeom prst="rect">
            <a:avLst/>
          </a:prstGeom>
          <a:solidFill>
            <a:srgbClr val="EEF4F0"/>
          </a:solidFill>
          <a:ln w="1016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F11330F-C3C7-FF64-4F67-3FCFFB1AC90D}"/>
              </a:ext>
            </a:extLst>
          </p:cNvPr>
          <p:cNvSpPr/>
          <p:nvPr/>
        </p:nvSpPr>
        <p:spPr>
          <a:xfrm>
            <a:off x="2557745" y="1113379"/>
            <a:ext cx="40233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19396E-5005-A5F5-27B9-DDEDF0B15FAB}"/>
              </a:ext>
            </a:extLst>
          </p:cNvPr>
          <p:cNvSpPr/>
          <p:nvPr/>
        </p:nvSpPr>
        <p:spPr>
          <a:xfrm>
            <a:off x="2649184" y="1131667"/>
            <a:ext cx="38404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Chart 1</a:t>
            </a:r>
            <a:endParaRPr lang="en-US" sz="11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CE8F455-C2F9-E067-44B6-BCD8462FD652}"/>
              </a:ext>
            </a:extLst>
          </p:cNvPr>
          <p:cNvSpPr/>
          <p:nvPr/>
        </p:nvSpPr>
        <p:spPr>
          <a:xfrm>
            <a:off x="365760" y="4001466"/>
            <a:ext cx="22860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21" name="Picture 20" descr="A graph with orange and blue dots&#10;&#10;AI-generated content may be incorrect.">
            <a:extLst>
              <a:ext uri="{FF2B5EF4-FFF2-40B4-BE49-F238E27FC236}">
                <a16:creationId xmlns:a16="http://schemas.microsoft.com/office/drawing/2014/main" id="{96B79691-40E8-5180-AFAC-7C12506B3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936" y="1529366"/>
            <a:ext cx="4026128" cy="254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4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Team Playing Styles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65760" y="124335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team playing styles differ, and which teams rely more on collective play versus individual stars?"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935501" y="1633806"/>
            <a:ext cx="2697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5384" y="1671633"/>
            <a:ext cx="25420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Stacked bar — Offensive </a:t>
            </a: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Contributions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24575" y="2574192"/>
            <a:ext cx="9644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Calibri"/>
              <a:buChar char="-"/>
            </a:pPr>
            <a:r>
              <a:rPr lang="en-US" sz="900">
                <a:solidFill>
                  <a:srgbClr val="1E2D2F"/>
                </a:solidFill>
                <a:latin typeface="Calibri"/>
                <a:ea typeface="Calibri"/>
                <a:cs typeface="Calibri"/>
              </a:rPr>
              <a:t>Star dependent teams have one dominant color </a:t>
            </a:r>
            <a:r>
              <a:rPr lang="en-US" sz="900" dirty="0">
                <a:solidFill>
                  <a:srgbClr val="1E2D2F"/>
                </a:solidFill>
                <a:latin typeface="Calibri"/>
                <a:ea typeface="Calibri"/>
                <a:cs typeface="Calibri"/>
              </a:rPr>
              <a:t>slice</a:t>
            </a:r>
            <a:endParaRPr lang="en-US" sz="900" dirty="0">
              <a:latin typeface="Calibri"/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sz="900">
                <a:solidFill>
                  <a:srgbClr val="1E2D2F"/>
                </a:solidFill>
                <a:latin typeface="Calibri"/>
                <a:ea typeface="Calibri"/>
                <a:cs typeface="Calibri"/>
              </a:rPr>
              <a:t>Collective teams show many thin slices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73552" y="1984248"/>
            <a:ext cx="25420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95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27991" y="1633806"/>
            <a:ext cx="2697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83912" y="1671633"/>
            <a:ext cx="25420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 b="1" dirty="0">
                <a:solidFill>
                  <a:srgbClr val="FFFFFF"/>
                </a:solidFill>
                <a:ea typeface="Calibri"/>
                <a:cs typeface="Calibri"/>
              </a:rPr>
              <a:t>Stacked bar – </a:t>
            </a:r>
            <a:r>
              <a:rPr lang="en-US" sz="950" b="1">
                <a:solidFill>
                  <a:srgbClr val="FFFFFF"/>
                </a:solidFill>
                <a:ea typeface="Calibri"/>
                <a:cs typeface="Calibri"/>
              </a:rPr>
              <a:t>Defensive</a:t>
            </a:r>
            <a:r>
              <a:rPr lang="en-US" sz="950" b="1" dirty="0">
                <a:solidFill>
                  <a:srgbClr val="FFFFFF"/>
                </a:solidFill>
                <a:ea typeface="Calibri"/>
                <a:cs typeface="Calibri"/>
              </a:rPr>
              <a:t> Contributions</a:t>
            </a:r>
          </a:p>
        </p:txBody>
      </p:sp>
      <p:sp>
        <p:nvSpPr>
          <p:cNvPr id="21" name="Text 19"/>
          <p:cNvSpPr/>
          <p:nvPr/>
        </p:nvSpPr>
        <p:spPr>
          <a:xfrm>
            <a:off x="7738911" y="3521808"/>
            <a:ext cx="24688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900" dirty="0">
              <a:solidFill>
                <a:srgbClr val="1E2D2F"/>
              </a:solidFill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4206240"/>
            <a:ext cx="841248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8BA5A0"/>
              </a:solidFill>
              <a:ea typeface="Calibri"/>
              <a:cs typeface="Calibri"/>
            </a:endParaRPr>
          </a:p>
        </p:txBody>
      </p:sp>
      <p:pic>
        <p:nvPicPr>
          <p:cNvPr id="25" name="Picture 2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A0ACF8E-D41C-C423-09DF-4D9057CC0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" y="1983153"/>
            <a:ext cx="2717970" cy="2139463"/>
          </a:xfrm>
          <a:prstGeom prst="rect">
            <a:avLst/>
          </a:prstGeom>
        </p:spPr>
      </p:pic>
      <p:pic>
        <p:nvPicPr>
          <p:cNvPr id="26" name="Picture 25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5682AFFC-01CF-6B60-6AC4-674D72336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303" y="1992922"/>
            <a:ext cx="2717968" cy="212480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08291D-3AD8-B6D3-57D2-2FAA2B472C14}"/>
              </a:ext>
            </a:extLst>
          </p:cNvPr>
          <p:cNvSpPr txBox="1"/>
          <p:nvPr/>
        </p:nvSpPr>
        <p:spPr>
          <a:xfrm>
            <a:off x="455014" y="4207888"/>
            <a:ext cx="8369084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Calibri"/>
                <a:cs typeface="Calibri"/>
              </a:rPr>
              <a:t>Some teams show a </a:t>
            </a:r>
            <a:r>
              <a:rPr lang="en-US" sz="1400" b="1" dirty="0">
                <a:ea typeface="Calibri"/>
                <a:cs typeface="Calibri"/>
              </a:rPr>
              <a:t>high concentration of contributions from one or two players</a:t>
            </a:r>
            <a:r>
              <a:rPr lang="en-US" sz="1400" dirty="0">
                <a:ea typeface="Calibri"/>
                <a:cs typeface="Calibri"/>
              </a:rPr>
              <a:t>, indicating a reliance on individual stars. In these cases, a large portion of the team’s goals and assists come from a single player, highlighting a more centralized attacking structure. While in the defensive case teams with less offensive output typically have evenly spread defensive contributions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Recommendations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4124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09728" cy="10515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Confirmed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8092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accuracy (shots on target) is the dominant predictor of goal scoring (coeff. +0.395, R²=0.818). Clubs should scout and value shot accuracy over raw shooting volume when evaluating attacking players.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11480" y="2214098"/>
            <a:ext cx="8412480" cy="914400"/>
          </a:xfrm>
          <a:prstGeom prst="rect">
            <a:avLst/>
          </a:prstGeom>
          <a:solidFill>
            <a:srgbClr val="EEF4F0"/>
          </a:solidFill>
          <a:ln w="7620">
            <a:solidFill>
              <a:srgbClr val="0B1F3A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221992"/>
            <a:ext cx="109728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258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51460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27832"/>
            <a:ext cx="8412480" cy="914400"/>
          </a:xfrm>
          <a:prstGeom prst="rect">
            <a:avLst/>
          </a:prstGeom>
          <a:solidFill>
            <a:srgbClr val="EEF4F0"/>
          </a:solidFill>
          <a:ln w="7620">
            <a:solidFill>
              <a:srgbClr val="0B1F3A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227832"/>
            <a:ext cx="109728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264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539978"/>
            <a:ext cx="80924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i="1" dirty="0">
                <a:ea typeface="Calibri"/>
                <a:cs typeface="Calibri"/>
              </a:rPr>
              <a:t>Clubs such as FC Barcelona &amp; Real Madrid have extremely high attacking input while having low defensive contributions. This is in large due to highly key central </a:t>
            </a:r>
            <a:r>
              <a:rPr lang="en-US" sz="1100" i="1" dirty="0" err="1">
                <a:ea typeface="Calibri"/>
                <a:cs typeface="Calibri"/>
              </a:rPr>
              <a:t>playe</a:t>
            </a:r>
            <a:r>
              <a:rPr lang="en-US" sz="1100" i="1" dirty="0">
                <a:ea typeface="Calibri"/>
                <a:cs typeface="Calibri"/>
              </a:rPr>
              <a:t>rs making major contributions for the team while </a:t>
            </a:r>
            <a:r>
              <a:rPr lang="en-US" sz="1100" i="1" dirty="0" err="1">
                <a:ea typeface="Calibri"/>
                <a:cs typeface="Calibri"/>
              </a:rPr>
              <a:t>other</a:t>
            </a:r>
            <a:r>
              <a:rPr lang="en-US" sz="1100" i="1" dirty="0">
                <a:ea typeface="Calibri"/>
                <a:cs typeface="Calibri"/>
              </a:rPr>
              <a:t> teams represent </a:t>
            </a:r>
            <a:r>
              <a:rPr lang="en-US" sz="1100" i="1" dirty="0" err="1">
                <a:ea typeface="Calibri"/>
                <a:cs typeface="Calibri"/>
              </a:rPr>
              <a:t>evenl</a:t>
            </a:r>
            <a:r>
              <a:rPr lang="en-US" sz="1100" i="1" dirty="0">
                <a:ea typeface="Calibri"/>
                <a:cs typeface="Calibri"/>
              </a:rPr>
              <a:t>y structured contributions. </a:t>
            </a:r>
            <a:r>
              <a:rPr lang="en-US" sz="1100" dirty="0">
                <a:ea typeface="+mn-lt"/>
                <a:cs typeface="+mn-lt"/>
              </a:rPr>
              <a:t>In contrast, other teams display a more even distribution of defensive contributions across multiple players, including midfielders and even forwards. This reflects a more collective defensive approach, where pressing and defensive responsibility are shared throughout the team.</a:t>
            </a:r>
            <a:endParaRPr lang="en-US" sz="1100" i="1" dirty="0"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42793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Data analytics can directly inform La Liga club recruitment, training priorities, and tactical planning.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365760"/>
            <a:ext cx="4389120" cy="4389120"/>
          </a:xfrm>
          <a:prstGeom prst="ellipse">
            <a:avLst/>
          </a:prstGeom>
          <a:solidFill>
            <a:srgbClr val="1A6B3A">
              <a:alpha val="10000"/>
            </a:srgbClr>
          </a:solidFill>
          <a:ln w="19050">
            <a:solidFill>
              <a:srgbClr val="2D9E5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1280160"/>
            <a:ext cx="2560320" cy="25603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2D9E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5029200" cy="640080"/>
          </a:xfrm>
          <a:prstGeom prst="rect">
            <a:avLst/>
          </a:prstGeom>
          <a:solidFill>
            <a:srgbClr val="1E2D2F"/>
          </a:solidFill>
          <a:ln w="1016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La Liga Player Performance Statistics  |  556 players  |  62 variables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Lenoir-Rhyne University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65760" y="3639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Fritz Honors College  |  Business Management &amp; Entrepreneurship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completed using Tableau, Excel Regression (R²=0.818), and La Liga player data.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1191</Words>
  <Application>Microsoft Office PowerPoint</Application>
  <PresentationFormat>On-screen Show (16:9)</PresentationFormat>
  <Paragraphs>161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Connor Fallon</cp:lastModifiedBy>
  <cp:revision>101</cp:revision>
  <dcterms:created xsi:type="dcterms:W3CDTF">2026-04-23T23:57:18Z</dcterms:created>
  <dcterms:modified xsi:type="dcterms:W3CDTF">2026-04-26T04:13:01Z</dcterms:modified>
</cp:coreProperties>
</file>